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5" r:id="rId7"/>
    <p:sldId id="262"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4" d="100"/>
          <a:sy n="84" d="100"/>
        </p:scale>
        <p:origin x="65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2/11/2025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2/11/2025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E5059C3-6A89-4494-99FF-5A4D6FFD50EB}" type="datetimeFigureOut">
              <a:rPr lang="en-US" dirty="0"/>
              <a:t>2/11/2025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2/11/2025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2609285" y="2851331"/>
            <a:ext cx="3893623" cy="307143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666635" y="2851331"/>
            <a:ext cx="3899798" cy="307143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2/11/2025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2/11/2025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2/11/2025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D525BB-DA17-4BA0-B3C8-3AC3ABC827E6}" type="datetimeFigureOut">
              <a:rPr lang="en-US" dirty="0"/>
              <a:t>2/11/2025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B16C4C9A-3960-41CF-A4E9-2A8FB932454B}" type="datetimeFigureOut">
              <a:rPr lang="en-US" dirty="0"/>
              <a:t>2/11/2025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2/11/2025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2/11/2025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2/11/2025</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kumimoji="1" sz="3400" b="0" i="0" kern="1200" cap="none">
          <a:solidFill>
            <a:schemeClr val="tx1"/>
          </a:solidFill>
          <a:effectLst/>
          <a:latin typeface="+mj-lt"/>
          <a:ea typeface="+mj-ea"/>
          <a:cs typeface="+mj-cs"/>
        </a:defRPr>
      </a:lvl1pPr>
    </p:titleStyle>
    <p:body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pref.ishikawa.jp/fukusi/manabu/sign/03/" TargetMode="External"/><Relationship Id="rId2" Type="http://schemas.openxmlformats.org/officeDocument/2006/relationships/hyperlink" Target="https://note.nkmk.me/python-opencv-videocapturefile-camera/" TargetMode="External"/><Relationship Id="rId1" Type="http://schemas.openxmlformats.org/officeDocument/2006/relationships/slideLayout" Target="../slideLayouts/slideLayout2.xml"/><Relationship Id="rId5" Type="http://schemas.openxmlformats.org/officeDocument/2006/relationships/hyperlink" Target="https://www.tensorflow.org/api_docs/python/tf/keras/layers/Conv3D" TargetMode="External"/><Relationship Id="rId4" Type="http://schemas.openxmlformats.org/officeDocument/2006/relationships/hyperlink" Target="https://tatpytone.hatenablog.com/entry/2022/01/23/184808"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7F66B2-0681-4239-91D2-D2ABB0268504}"/>
              </a:ext>
            </a:extLst>
          </p:cNvPr>
          <p:cNvSpPr>
            <a:spLocks noGrp="1"/>
          </p:cNvSpPr>
          <p:nvPr>
            <p:ph type="ctrTitle"/>
          </p:nvPr>
        </p:nvSpPr>
        <p:spPr>
          <a:xfrm>
            <a:off x="3160448" y="2446132"/>
            <a:ext cx="5518066" cy="2268559"/>
          </a:xfrm>
        </p:spPr>
        <p:txBody>
          <a:bodyPr/>
          <a:lstStyle/>
          <a:p>
            <a:r>
              <a:rPr lang="ja-JP" altLang="en-US" dirty="0"/>
              <a:t>感情手話認識</a:t>
            </a:r>
            <a:br>
              <a:rPr lang="en-US" altLang="ja-JP" dirty="0"/>
            </a:br>
            <a:r>
              <a:rPr lang="ja-JP" altLang="en-US" dirty="0"/>
              <a:t>システム</a:t>
            </a:r>
            <a:endParaRPr kumimoji="1" lang="ja-JP" altLang="en-US" dirty="0"/>
          </a:p>
        </p:txBody>
      </p:sp>
      <p:sp>
        <p:nvSpPr>
          <p:cNvPr id="3" name="字幕 2">
            <a:extLst>
              <a:ext uri="{FF2B5EF4-FFF2-40B4-BE49-F238E27FC236}">
                <a16:creationId xmlns:a16="http://schemas.microsoft.com/office/drawing/2014/main" id="{BBA20DDC-E93D-4F8B-920F-FA4D5A7960E1}"/>
              </a:ext>
            </a:extLst>
          </p:cNvPr>
          <p:cNvSpPr>
            <a:spLocks noGrp="1"/>
          </p:cNvSpPr>
          <p:nvPr>
            <p:ph type="subTitle" idx="1"/>
          </p:nvPr>
        </p:nvSpPr>
        <p:spPr>
          <a:xfrm>
            <a:off x="3320914" y="4873752"/>
            <a:ext cx="5357600" cy="338327"/>
          </a:xfrm>
        </p:spPr>
        <p:txBody>
          <a:bodyPr>
            <a:normAutofit lnSpcReduction="10000"/>
          </a:bodyPr>
          <a:lstStyle/>
          <a:p>
            <a:r>
              <a:rPr kumimoji="1" lang="en-US" altLang="ja-JP" dirty="0"/>
              <a:t>23ca0215</a:t>
            </a:r>
            <a:r>
              <a:rPr kumimoji="1" lang="ja-JP" altLang="en-US" dirty="0"/>
              <a:t>垣内勇成、</a:t>
            </a:r>
            <a:r>
              <a:rPr kumimoji="1" lang="en-US" altLang="ja-JP" dirty="0"/>
              <a:t>23ca0201</a:t>
            </a:r>
            <a:r>
              <a:rPr lang="ja-JP" altLang="en-US" dirty="0"/>
              <a:t>新井悠介</a:t>
            </a:r>
            <a:endParaRPr kumimoji="1" lang="ja-JP" altLang="en-US" dirty="0"/>
          </a:p>
        </p:txBody>
      </p:sp>
    </p:spTree>
    <p:extLst>
      <p:ext uri="{BB962C8B-B14F-4D97-AF65-F5344CB8AC3E}">
        <p14:creationId xmlns:p14="http://schemas.microsoft.com/office/powerpoint/2010/main" val="2410490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88B5AD-EE83-4B5E-8DC2-BACC3CFA309C}"/>
              </a:ext>
            </a:extLst>
          </p:cNvPr>
          <p:cNvSpPr>
            <a:spLocks noGrp="1"/>
          </p:cNvSpPr>
          <p:nvPr>
            <p:ph type="ctrTitle"/>
          </p:nvPr>
        </p:nvSpPr>
        <p:spPr>
          <a:xfrm>
            <a:off x="2673500" y="1568114"/>
            <a:ext cx="5518066" cy="5052142"/>
          </a:xfrm>
        </p:spPr>
        <p:txBody>
          <a:bodyPr>
            <a:noAutofit/>
          </a:bodyPr>
          <a:lstStyle/>
          <a:p>
            <a:pPr algn="l"/>
            <a:r>
              <a:rPr kumimoji="1" lang="ja-JP" altLang="en-US" sz="2400" dirty="0"/>
              <a:t>・　目的</a:t>
            </a:r>
            <a:br>
              <a:rPr kumimoji="1" lang="en-US" altLang="ja-JP" sz="2400" dirty="0"/>
            </a:br>
            <a:br>
              <a:rPr kumimoji="1" lang="en-US" altLang="ja-JP" sz="2400" dirty="0"/>
            </a:br>
            <a:r>
              <a:rPr kumimoji="1" lang="ja-JP" altLang="en-US" sz="2400" dirty="0"/>
              <a:t>・　元々の感情手話認識システム</a:t>
            </a:r>
            <a:br>
              <a:rPr kumimoji="1" lang="en-US" altLang="ja-JP" sz="2400" dirty="0"/>
            </a:br>
            <a:br>
              <a:rPr kumimoji="1" lang="en-US" altLang="ja-JP" sz="2400" dirty="0"/>
            </a:br>
            <a:r>
              <a:rPr kumimoji="1" lang="ja-JP" altLang="en-US" sz="2400" dirty="0"/>
              <a:t>・　開発環境と言語</a:t>
            </a:r>
            <a:br>
              <a:rPr kumimoji="1" lang="en-US" altLang="ja-JP" sz="2400" dirty="0"/>
            </a:br>
            <a:br>
              <a:rPr kumimoji="1" lang="en-US" altLang="ja-JP" sz="2400" dirty="0"/>
            </a:br>
            <a:r>
              <a:rPr kumimoji="1" lang="ja-JP" altLang="en-US" sz="2400" dirty="0"/>
              <a:t>・　当初の設計と変更点</a:t>
            </a:r>
            <a:br>
              <a:rPr kumimoji="1" lang="en-US" altLang="ja-JP" sz="2400" dirty="0"/>
            </a:br>
            <a:br>
              <a:rPr kumimoji="1" lang="en-US" altLang="ja-JP" sz="2400" dirty="0"/>
            </a:br>
            <a:r>
              <a:rPr kumimoji="1" lang="ja-JP" altLang="en-US" sz="2400" dirty="0"/>
              <a:t>・　問題点</a:t>
            </a:r>
            <a:br>
              <a:rPr kumimoji="1" lang="en-US" altLang="ja-JP" sz="2400" dirty="0"/>
            </a:br>
            <a:br>
              <a:rPr kumimoji="1" lang="en-US" altLang="ja-JP" sz="2400" dirty="0"/>
            </a:br>
            <a:r>
              <a:rPr lang="ja-JP" altLang="en-US" sz="2400" dirty="0"/>
              <a:t>・　改善</a:t>
            </a:r>
            <a:br>
              <a:rPr lang="en-US" altLang="ja-JP" sz="2400" dirty="0"/>
            </a:br>
            <a:br>
              <a:rPr lang="en-US" altLang="ja-JP" sz="2400" dirty="0"/>
            </a:br>
            <a:r>
              <a:rPr lang="ja-JP" altLang="en-US" sz="2400" dirty="0"/>
              <a:t>・　今後の展望</a:t>
            </a:r>
            <a:br>
              <a:rPr lang="en-US" altLang="ja-JP" sz="2400" dirty="0"/>
            </a:br>
            <a:br>
              <a:rPr lang="en-US" altLang="ja-JP" sz="2400" dirty="0"/>
            </a:br>
            <a:r>
              <a:rPr lang="ja-JP" altLang="en-US" sz="2400" dirty="0"/>
              <a:t>・　参考文献</a:t>
            </a:r>
            <a:br>
              <a:rPr lang="en-US" altLang="ja-JP" sz="2400" dirty="0"/>
            </a:br>
            <a:endParaRPr kumimoji="1" lang="ja-JP" altLang="en-US" sz="2400" dirty="0"/>
          </a:p>
        </p:txBody>
      </p:sp>
      <p:sp>
        <p:nvSpPr>
          <p:cNvPr id="3" name="字幕 2">
            <a:extLst>
              <a:ext uri="{FF2B5EF4-FFF2-40B4-BE49-F238E27FC236}">
                <a16:creationId xmlns:a16="http://schemas.microsoft.com/office/drawing/2014/main" id="{B6FA91AA-83BF-4803-A28B-ACFDD76D9634}"/>
              </a:ext>
            </a:extLst>
          </p:cNvPr>
          <p:cNvSpPr>
            <a:spLocks noGrp="1"/>
          </p:cNvSpPr>
          <p:nvPr>
            <p:ph type="subTitle" idx="1"/>
          </p:nvPr>
        </p:nvSpPr>
        <p:spPr>
          <a:xfrm>
            <a:off x="2833966" y="604627"/>
            <a:ext cx="5357600" cy="557462"/>
          </a:xfrm>
        </p:spPr>
        <p:txBody>
          <a:bodyPr>
            <a:noAutofit/>
          </a:bodyPr>
          <a:lstStyle/>
          <a:p>
            <a:pPr algn="ctr"/>
            <a:r>
              <a:rPr kumimoji="1" lang="ja-JP" altLang="en-US" sz="4400" dirty="0"/>
              <a:t>目次</a:t>
            </a:r>
          </a:p>
        </p:txBody>
      </p:sp>
    </p:spTree>
    <p:extLst>
      <p:ext uri="{BB962C8B-B14F-4D97-AF65-F5344CB8AC3E}">
        <p14:creationId xmlns:p14="http://schemas.microsoft.com/office/powerpoint/2010/main" val="2296856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8CD994-2DA5-46BF-AAE6-385CAD7E60E1}"/>
              </a:ext>
            </a:extLst>
          </p:cNvPr>
          <p:cNvSpPr>
            <a:spLocks noGrp="1"/>
          </p:cNvSpPr>
          <p:nvPr>
            <p:ph type="title"/>
          </p:nvPr>
        </p:nvSpPr>
        <p:spPr>
          <a:xfrm>
            <a:off x="2026592" y="808056"/>
            <a:ext cx="7958331" cy="1077229"/>
          </a:xfrm>
        </p:spPr>
        <p:txBody>
          <a:bodyPr/>
          <a:lstStyle/>
          <a:p>
            <a:pPr algn="ctr"/>
            <a:r>
              <a:rPr kumimoji="1" lang="ja-JP" altLang="en-US" dirty="0"/>
              <a:t>研究の目的</a:t>
            </a:r>
          </a:p>
        </p:txBody>
      </p:sp>
      <p:sp>
        <p:nvSpPr>
          <p:cNvPr id="3" name="コンテンツ プレースホルダー 2">
            <a:extLst>
              <a:ext uri="{FF2B5EF4-FFF2-40B4-BE49-F238E27FC236}">
                <a16:creationId xmlns:a16="http://schemas.microsoft.com/office/drawing/2014/main" id="{33E643AA-C4E0-4F3F-90B6-67FD6A21FB59}"/>
              </a:ext>
            </a:extLst>
          </p:cNvPr>
          <p:cNvSpPr>
            <a:spLocks noGrp="1"/>
          </p:cNvSpPr>
          <p:nvPr>
            <p:ph idx="1"/>
          </p:nvPr>
        </p:nvSpPr>
        <p:spPr>
          <a:xfrm>
            <a:off x="1277112" y="1601821"/>
            <a:ext cx="9637776" cy="4734971"/>
          </a:xfrm>
        </p:spPr>
        <p:txBody>
          <a:bodyPr>
            <a:noAutofit/>
          </a:bodyPr>
          <a:lstStyle/>
          <a:p>
            <a:pPr marL="6160" indent="0">
              <a:buNone/>
            </a:pPr>
            <a:r>
              <a:rPr kumimoji="1" lang="ja-JP" altLang="en-US" sz="2400" dirty="0"/>
              <a:t>手話を使う人と使わない人の円滑なコミュニケーションを支援するため、感情手話認識システムを開発した。</a:t>
            </a:r>
            <a:endParaRPr kumimoji="1" lang="en-US" altLang="ja-JP" sz="2400" dirty="0"/>
          </a:p>
          <a:p>
            <a:pPr marL="6160" indent="0">
              <a:buNone/>
            </a:pPr>
            <a:r>
              <a:rPr lang="ja-JP" altLang="en-US" sz="2400" dirty="0">
                <a:solidFill>
                  <a:schemeClr val="tx2">
                    <a:lumMod val="75000"/>
                  </a:schemeClr>
                </a:solidFill>
              </a:rPr>
              <a:t>対象者</a:t>
            </a:r>
            <a:endParaRPr lang="en-US" altLang="ja-JP" sz="2400" dirty="0">
              <a:solidFill>
                <a:schemeClr val="tx2">
                  <a:lumMod val="75000"/>
                </a:schemeClr>
              </a:solidFill>
            </a:endParaRPr>
          </a:p>
          <a:p>
            <a:r>
              <a:rPr kumimoji="1" lang="ja-JP" altLang="en-US" sz="2400" dirty="0"/>
              <a:t>手話を学ぶ人</a:t>
            </a:r>
            <a:endParaRPr kumimoji="1" lang="en-US" altLang="ja-JP" sz="2400" dirty="0"/>
          </a:p>
          <a:p>
            <a:r>
              <a:rPr lang="ja-JP" altLang="en-US" sz="2400" dirty="0"/>
              <a:t>手話を使う人が身近にいる人</a:t>
            </a:r>
            <a:endParaRPr lang="en-US" altLang="ja-JP" sz="2400" dirty="0"/>
          </a:p>
          <a:p>
            <a:pPr marL="6160" indent="0">
              <a:buNone/>
            </a:pPr>
            <a:r>
              <a:rPr kumimoji="1" lang="ja-JP" altLang="en-US" sz="2400" dirty="0">
                <a:solidFill>
                  <a:schemeClr val="tx2">
                    <a:lumMod val="75000"/>
                  </a:schemeClr>
                </a:solidFill>
              </a:rPr>
              <a:t>特徴</a:t>
            </a:r>
            <a:endParaRPr kumimoji="1" lang="en-US" altLang="ja-JP" sz="2400" dirty="0">
              <a:solidFill>
                <a:schemeClr val="tx2">
                  <a:lumMod val="75000"/>
                </a:schemeClr>
              </a:solidFill>
            </a:endParaRPr>
          </a:p>
          <a:p>
            <a:r>
              <a:rPr lang="ja-JP" altLang="en-US" sz="2000" dirty="0"/>
              <a:t>手話は視覚言語であり、</a:t>
            </a:r>
            <a:r>
              <a:rPr lang="ja-JP" altLang="en-US" sz="2000" b="1" dirty="0"/>
              <a:t>手や指の動き＋表情</a:t>
            </a:r>
            <a:r>
              <a:rPr lang="ja-JP" altLang="en-US" sz="2000" dirty="0"/>
              <a:t>が重要</a:t>
            </a:r>
            <a:endParaRPr lang="en-US" altLang="ja-JP" sz="2000" dirty="0"/>
          </a:p>
          <a:p>
            <a:r>
              <a:rPr lang="ja-JP" altLang="en-US" sz="2000" dirty="0"/>
              <a:t>手話の意味と表情の一致が大切な</a:t>
            </a:r>
            <a:r>
              <a:rPr lang="ja-JP" altLang="en-US" sz="2000" b="1" dirty="0"/>
              <a:t>感情手話</a:t>
            </a:r>
            <a:r>
              <a:rPr lang="ja-JP" altLang="en-US" sz="2000" dirty="0"/>
              <a:t>に着目してシステムを構築</a:t>
            </a:r>
            <a:endParaRPr kumimoji="1" lang="ja-JP" altLang="en-US" sz="2400" dirty="0"/>
          </a:p>
        </p:txBody>
      </p:sp>
    </p:spTree>
    <p:extLst>
      <p:ext uri="{BB962C8B-B14F-4D97-AF65-F5344CB8AC3E}">
        <p14:creationId xmlns:p14="http://schemas.microsoft.com/office/powerpoint/2010/main" val="2881186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DF5540-2975-4D38-A49A-46DDEBC6849F}"/>
              </a:ext>
            </a:extLst>
          </p:cNvPr>
          <p:cNvSpPr>
            <a:spLocks noGrp="1"/>
          </p:cNvSpPr>
          <p:nvPr>
            <p:ph type="title"/>
          </p:nvPr>
        </p:nvSpPr>
        <p:spPr/>
        <p:txBody>
          <a:bodyPr/>
          <a:lstStyle/>
          <a:p>
            <a:pPr algn="ctr"/>
            <a:r>
              <a:rPr kumimoji="1" lang="ja-JP" altLang="en-US" dirty="0"/>
              <a:t>開発環境と言語</a:t>
            </a:r>
          </a:p>
        </p:txBody>
      </p:sp>
      <p:sp>
        <p:nvSpPr>
          <p:cNvPr id="3" name="コンテンツ プレースホルダー 2">
            <a:extLst>
              <a:ext uri="{FF2B5EF4-FFF2-40B4-BE49-F238E27FC236}">
                <a16:creationId xmlns:a16="http://schemas.microsoft.com/office/drawing/2014/main" id="{7C9E75E8-E67D-4545-8F64-73515312B057}"/>
              </a:ext>
            </a:extLst>
          </p:cNvPr>
          <p:cNvSpPr>
            <a:spLocks noGrp="1"/>
          </p:cNvSpPr>
          <p:nvPr>
            <p:ph sz="half" idx="1"/>
          </p:nvPr>
        </p:nvSpPr>
        <p:spPr>
          <a:xfrm>
            <a:off x="2204040" y="2052115"/>
            <a:ext cx="4233336" cy="3997828"/>
          </a:xfrm>
        </p:spPr>
        <p:txBody>
          <a:bodyPr/>
          <a:lstStyle/>
          <a:p>
            <a:pPr marL="6160" indent="0">
              <a:buNone/>
            </a:pPr>
            <a:r>
              <a:rPr kumimoji="1" lang="en-US" altLang="ja-JP" dirty="0"/>
              <a:t>OS</a:t>
            </a:r>
            <a:r>
              <a:rPr kumimoji="1" lang="ja-JP" altLang="en-US" dirty="0"/>
              <a:t>：</a:t>
            </a:r>
            <a:endParaRPr lang="en-US" altLang="ja-JP" dirty="0"/>
          </a:p>
          <a:p>
            <a:pPr marL="6160" indent="0">
              <a:buNone/>
            </a:pPr>
            <a:r>
              <a:rPr lang="en-US" altLang="ja-JP" dirty="0"/>
              <a:t>       Windows11Pro</a:t>
            </a:r>
          </a:p>
          <a:p>
            <a:pPr marL="6160" indent="0">
              <a:buNone/>
            </a:pPr>
            <a:r>
              <a:rPr kumimoji="1" lang="ja-JP" altLang="en-US" dirty="0"/>
              <a:t>開発環境</a:t>
            </a:r>
            <a:r>
              <a:rPr lang="ja-JP" altLang="en-US" dirty="0"/>
              <a:t>：</a:t>
            </a:r>
            <a:endParaRPr kumimoji="1" lang="en-US" altLang="ja-JP" dirty="0"/>
          </a:p>
          <a:p>
            <a:pPr marL="6160" indent="0">
              <a:buNone/>
            </a:pPr>
            <a:r>
              <a:rPr lang="en-US" altLang="ja-JP" dirty="0"/>
              <a:t>       Jupyter Notebook, VScode</a:t>
            </a:r>
          </a:p>
          <a:p>
            <a:pPr marL="6160" indent="0">
              <a:buNone/>
            </a:pPr>
            <a:r>
              <a:rPr kumimoji="1" lang="ja-JP" altLang="en-US" dirty="0"/>
              <a:t>言語</a:t>
            </a:r>
            <a:r>
              <a:rPr lang="ja-JP" altLang="en-US" dirty="0"/>
              <a:t>：</a:t>
            </a:r>
            <a:endParaRPr kumimoji="1" lang="en-US" altLang="ja-JP" dirty="0"/>
          </a:p>
          <a:p>
            <a:pPr marL="6160" indent="0">
              <a:buNone/>
            </a:pPr>
            <a:r>
              <a:rPr lang="en-US" altLang="ja-JP" dirty="0"/>
              <a:t>       Python, Javascript, Html&amp;CSS</a:t>
            </a:r>
            <a:endParaRPr kumimoji="1" lang="en-US" altLang="ja-JP" dirty="0"/>
          </a:p>
        </p:txBody>
      </p:sp>
      <p:sp>
        <p:nvSpPr>
          <p:cNvPr id="4" name="コンテンツ プレースホルダー 3">
            <a:extLst>
              <a:ext uri="{FF2B5EF4-FFF2-40B4-BE49-F238E27FC236}">
                <a16:creationId xmlns:a16="http://schemas.microsoft.com/office/drawing/2014/main" id="{A14BDED7-200F-49C7-8892-AB0D6E064591}"/>
              </a:ext>
            </a:extLst>
          </p:cNvPr>
          <p:cNvSpPr>
            <a:spLocks noGrp="1"/>
          </p:cNvSpPr>
          <p:nvPr>
            <p:ph sz="half" idx="2"/>
          </p:nvPr>
        </p:nvSpPr>
        <p:spPr/>
        <p:txBody>
          <a:bodyPr/>
          <a:lstStyle/>
          <a:p>
            <a:pPr marL="6160" indent="0">
              <a:buNone/>
            </a:pPr>
            <a:r>
              <a:rPr kumimoji="1" lang="ja-JP" altLang="en-US" dirty="0"/>
              <a:t>フレームワーク ・ ライブラリ：</a:t>
            </a:r>
            <a:endParaRPr kumimoji="1" lang="en-US" altLang="ja-JP" dirty="0"/>
          </a:p>
          <a:p>
            <a:pPr marL="6160" indent="0">
              <a:buNone/>
            </a:pPr>
            <a:r>
              <a:rPr lang="en-US" altLang="ja-JP" dirty="0"/>
              <a:t>        MediaPipe, Tensorflow,</a:t>
            </a:r>
          </a:p>
          <a:p>
            <a:pPr marL="6160" indent="0">
              <a:buNone/>
            </a:pPr>
            <a:r>
              <a:rPr kumimoji="1" lang="en-US" altLang="ja-JP" dirty="0"/>
              <a:t>        pandas, NumPy, pathlib,</a:t>
            </a:r>
          </a:p>
          <a:p>
            <a:pPr marL="6160" indent="0">
              <a:buNone/>
            </a:pPr>
            <a:r>
              <a:rPr lang="en-US" altLang="ja-JP" dirty="0"/>
              <a:t>        OpenCV, Flask</a:t>
            </a:r>
            <a:endParaRPr kumimoji="1" lang="en-US" altLang="ja-JP" dirty="0"/>
          </a:p>
          <a:p>
            <a:pPr marL="6160" indent="0">
              <a:buNone/>
            </a:pPr>
            <a:r>
              <a:rPr kumimoji="1" lang="ja-JP" altLang="en-US" dirty="0"/>
              <a:t>        </a:t>
            </a:r>
          </a:p>
        </p:txBody>
      </p:sp>
    </p:spTree>
    <p:extLst>
      <p:ext uri="{BB962C8B-B14F-4D97-AF65-F5344CB8AC3E}">
        <p14:creationId xmlns:p14="http://schemas.microsoft.com/office/powerpoint/2010/main" val="3466865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78E1C8-E1A3-4711-8D40-62D9F28941D8}"/>
              </a:ext>
            </a:extLst>
          </p:cNvPr>
          <p:cNvSpPr>
            <a:spLocks noGrp="1"/>
          </p:cNvSpPr>
          <p:nvPr>
            <p:ph type="title"/>
          </p:nvPr>
        </p:nvSpPr>
        <p:spPr/>
        <p:txBody>
          <a:bodyPr/>
          <a:lstStyle/>
          <a:p>
            <a:pPr algn="ctr"/>
            <a:r>
              <a:rPr kumimoji="1" lang="ja-JP" altLang="en-US" dirty="0"/>
              <a:t>当初の設計と変更点</a:t>
            </a:r>
          </a:p>
        </p:txBody>
      </p:sp>
      <p:sp>
        <p:nvSpPr>
          <p:cNvPr id="3" name="テキスト プレースホルダー 2">
            <a:extLst>
              <a:ext uri="{FF2B5EF4-FFF2-40B4-BE49-F238E27FC236}">
                <a16:creationId xmlns:a16="http://schemas.microsoft.com/office/drawing/2014/main" id="{F9C12D18-863C-47CE-A498-AC31546E1AB0}"/>
              </a:ext>
            </a:extLst>
          </p:cNvPr>
          <p:cNvSpPr>
            <a:spLocks noGrp="1"/>
          </p:cNvSpPr>
          <p:nvPr>
            <p:ph type="body" idx="1"/>
          </p:nvPr>
        </p:nvSpPr>
        <p:spPr>
          <a:xfrm>
            <a:off x="2691686" y="2139478"/>
            <a:ext cx="3896467" cy="525653"/>
          </a:xfrm>
        </p:spPr>
        <p:txBody>
          <a:bodyPr/>
          <a:lstStyle/>
          <a:p>
            <a:r>
              <a:rPr kumimoji="1" lang="ja-JP" altLang="en-US" sz="2800" dirty="0"/>
              <a:t>当初の設計</a:t>
            </a:r>
          </a:p>
        </p:txBody>
      </p:sp>
      <p:sp>
        <p:nvSpPr>
          <p:cNvPr id="4" name="コンテンツ プレースホルダー 3">
            <a:extLst>
              <a:ext uri="{FF2B5EF4-FFF2-40B4-BE49-F238E27FC236}">
                <a16:creationId xmlns:a16="http://schemas.microsoft.com/office/drawing/2014/main" id="{ACEEBFB9-33D0-457B-83E2-FCF888D5B1C1}"/>
              </a:ext>
            </a:extLst>
          </p:cNvPr>
          <p:cNvSpPr>
            <a:spLocks noGrp="1"/>
          </p:cNvSpPr>
          <p:nvPr>
            <p:ph sz="half" idx="2"/>
          </p:nvPr>
        </p:nvSpPr>
        <p:spPr>
          <a:xfrm>
            <a:off x="2609285" y="2920443"/>
            <a:ext cx="3893623" cy="3426453"/>
          </a:xfrm>
        </p:spPr>
        <p:txBody>
          <a:bodyPr/>
          <a:lstStyle/>
          <a:p>
            <a:r>
              <a:rPr lang="ja-JP" altLang="en-US" dirty="0"/>
              <a:t>カメラを通じて喜怒哀楽をバランスよく含み最も汎用性が高い、嬉しい、好き、 嫌い、疲れた、悲しい、びっくりなどの６つの表情と手話を認識する。</a:t>
            </a:r>
            <a:endParaRPr lang="en-US" altLang="ja-JP" dirty="0"/>
          </a:p>
          <a:p>
            <a:pPr marL="6160" indent="0">
              <a:buNone/>
            </a:pPr>
            <a:endParaRPr kumimoji="1" lang="ja-JP" altLang="en-US" dirty="0"/>
          </a:p>
        </p:txBody>
      </p:sp>
      <p:sp>
        <p:nvSpPr>
          <p:cNvPr id="5" name="テキスト プレースホルダー 4">
            <a:extLst>
              <a:ext uri="{FF2B5EF4-FFF2-40B4-BE49-F238E27FC236}">
                <a16:creationId xmlns:a16="http://schemas.microsoft.com/office/drawing/2014/main" id="{3F55FD07-8C32-4767-A3C5-11F0F42DE990}"/>
              </a:ext>
            </a:extLst>
          </p:cNvPr>
          <p:cNvSpPr>
            <a:spLocks noGrp="1"/>
          </p:cNvSpPr>
          <p:nvPr>
            <p:ph type="body" sz="quarter" idx="3"/>
          </p:nvPr>
        </p:nvSpPr>
        <p:spPr>
          <a:xfrm>
            <a:off x="6867803" y="2139478"/>
            <a:ext cx="3899798" cy="525652"/>
          </a:xfrm>
        </p:spPr>
        <p:txBody>
          <a:bodyPr/>
          <a:lstStyle/>
          <a:p>
            <a:r>
              <a:rPr kumimoji="1" lang="ja-JP" altLang="en-US" sz="2800" dirty="0"/>
              <a:t>変更点</a:t>
            </a:r>
          </a:p>
        </p:txBody>
      </p:sp>
      <p:sp>
        <p:nvSpPr>
          <p:cNvPr id="6" name="コンテンツ プレースホルダー 5">
            <a:extLst>
              <a:ext uri="{FF2B5EF4-FFF2-40B4-BE49-F238E27FC236}">
                <a16:creationId xmlns:a16="http://schemas.microsoft.com/office/drawing/2014/main" id="{293C413B-62A4-406A-98B6-826E7154D86E}"/>
              </a:ext>
            </a:extLst>
          </p:cNvPr>
          <p:cNvSpPr>
            <a:spLocks noGrp="1"/>
          </p:cNvSpPr>
          <p:nvPr>
            <p:ph sz="quarter" idx="4"/>
          </p:nvPr>
        </p:nvSpPr>
        <p:spPr>
          <a:xfrm>
            <a:off x="6748931" y="2920443"/>
            <a:ext cx="3899798" cy="3426453"/>
          </a:xfrm>
        </p:spPr>
        <p:txBody>
          <a:bodyPr/>
          <a:lstStyle/>
          <a:p>
            <a:r>
              <a:rPr lang="ja-JP" altLang="en-US" dirty="0"/>
              <a:t>認識する感情を嬉しい、驚き、 悲しい、嫌い、疲れたの５つに変更。</a:t>
            </a:r>
            <a:endParaRPr lang="en-US" altLang="ja-JP" dirty="0"/>
          </a:p>
          <a:p>
            <a:endParaRPr kumimoji="1" lang="ja-JP" altLang="en-US" dirty="0"/>
          </a:p>
        </p:txBody>
      </p:sp>
    </p:spTree>
    <p:extLst>
      <p:ext uri="{BB962C8B-B14F-4D97-AF65-F5344CB8AC3E}">
        <p14:creationId xmlns:p14="http://schemas.microsoft.com/office/powerpoint/2010/main" val="3802932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4D4E76-1D78-487A-9869-67D7446A233E}"/>
              </a:ext>
            </a:extLst>
          </p:cNvPr>
          <p:cNvSpPr>
            <a:spLocks noGrp="1"/>
          </p:cNvSpPr>
          <p:nvPr>
            <p:ph type="title"/>
          </p:nvPr>
        </p:nvSpPr>
        <p:spPr/>
        <p:txBody>
          <a:bodyPr/>
          <a:lstStyle/>
          <a:p>
            <a:pPr algn="l"/>
            <a:r>
              <a:rPr kumimoji="1" lang="ja-JP" altLang="en-US" dirty="0"/>
              <a:t>今後の展望</a:t>
            </a:r>
          </a:p>
        </p:txBody>
      </p:sp>
      <p:sp>
        <p:nvSpPr>
          <p:cNvPr id="3" name="コンテンツ プレースホルダー 2">
            <a:extLst>
              <a:ext uri="{FF2B5EF4-FFF2-40B4-BE49-F238E27FC236}">
                <a16:creationId xmlns:a16="http://schemas.microsoft.com/office/drawing/2014/main" id="{C0C8F2C2-80D7-40B7-8939-EF637E93C863}"/>
              </a:ext>
            </a:extLst>
          </p:cNvPr>
          <p:cNvSpPr>
            <a:spLocks noGrp="1"/>
          </p:cNvSpPr>
          <p:nvPr>
            <p:ph idx="1"/>
          </p:nvPr>
        </p:nvSpPr>
        <p:spPr>
          <a:xfrm>
            <a:off x="2532888" y="2052116"/>
            <a:ext cx="8037251" cy="3997828"/>
          </a:xfrm>
        </p:spPr>
        <p:txBody>
          <a:bodyPr>
            <a:normAutofit/>
          </a:bodyPr>
          <a:lstStyle/>
          <a:p>
            <a:r>
              <a:rPr lang="ja-JP" altLang="en-US" sz="2400" dirty="0"/>
              <a:t>本研究では、感情手話分析</a:t>
            </a:r>
            <a:r>
              <a:rPr lang="en-US" altLang="ja-JP" sz="2400" dirty="0"/>
              <a:t>AI</a:t>
            </a:r>
            <a:r>
              <a:rPr lang="ja-JP" altLang="en-US" sz="2400" dirty="0"/>
              <a:t>の</a:t>
            </a:r>
            <a:r>
              <a:rPr lang="en-US" altLang="ja-JP" sz="2400" dirty="0"/>
              <a:t>Web</a:t>
            </a:r>
            <a:r>
              <a:rPr lang="ja-JP" altLang="en-US" sz="2400" dirty="0"/>
              <a:t>アプリケーションの開発を行ったが、時間的制約のため、感情分析の</a:t>
            </a:r>
            <a:r>
              <a:rPr lang="en-US" altLang="ja-JP" sz="2400" dirty="0"/>
              <a:t>Python</a:t>
            </a:r>
            <a:r>
              <a:rPr lang="ja-JP" altLang="en-US" sz="2400" dirty="0"/>
              <a:t>プログラムを</a:t>
            </a:r>
            <a:r>
              <a:rPr lang="en-US" altLang="ja-JP" sz="2400" dirty="0"/>
              <a:t>Web</a:t>
            </a:r>
            <a:r>
              <a:rPr lang="ja-JP" altLang="en-US" sz="2400" dirty="0"/>
              <a:t>アプリケーションに完全に統合することができなかった。現在は、感情手話分析のモデルが個別に動作する状態であり、今後は</a:t>
            </a:r>
            <a:r>
              <a:rPr lang="en-US" altLang="ja-JP" sz="2400" dirty="0"/>
              <a:t>Web</a:t>
            </a:r>
            <a:r>
              <a:rPr lang="ja-JP" altLang="en-US" sz="2400" dirty="0"/>
              <a:t>アプリケーションと統合し、ユーザーが直感的に感情と手話を解析できるシステムへと発展させることを目指す。</a:t>
            </a:r>
            <a:endParaRPr kumimoji="1" lang="ja-JP" altLang="en-US" sz="2400" dirty="0"/>
          </a:p>
        </p:txBody>
      </p:sp>
    </p:spTree>
    <p:extLst>
      <p:ext uri="{BB962C8B-B14F-4D97-AF65-F5344CB8AC3E}">
        <p14:creationId xmlns:p14="http://schemas.microsoft.com/office/powerpoint/2010/main" val="870886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977D12-42F3-49E3-B1F3-FE2CE83B3BAF}"/>
              </a:ext>
            </a:extLst>
          </p:cNvPr>
          <p:cNvSpPr>
            <a:spLocks noGrp="1"/>
          </p:cNvSpPr>
          <p:nvPr>
            <p:ph type="title"/>
          </p:nvPr>
        </p:nvSpPr>
        <p:spPr/>
        <p:txBody>
          <a:bodyPr/>
          <a:lstStyle/>
          <a:p>
            <a:pPr algn="l"/>
            <a:r>
              <a:rPr kumimoji="1" lang="ja-JP" altLang="en-US" dirty="0"/>
              <a:t>参考文献</a:t>
            </a:r>
          </a:p>
        </p:txBody>
      </p:sp>
      <p:sp>
        <p:nvSpPr>
          <p:cNvPr id="3" name="コンテンツ プレースホルダー 2">
            <a:extLst>
              <a:ext uri="{FF2B5EF4-FFF2-40B4-BE49-F238E27FC236}">
                <a16:creationId xmlns:a16="http://schemas.microsoft.com/office/drawing/2014/main" id="{78E3FB7A-7463-47DA-AB06-665C1E4B300E}"/>
              </a:ext>
            </a:extLst>
          </p:cNvPr>
          <p:cNvSpPr>
            <a:spLocks noGrp="1"/>
          </p:cNvSpPr>
          <p:nvPr>
            <p:ph idx="1"/>
          </p:nvPr>
        </p:nvSpPr>
        <p:spPr>
          <a:xfrm>
            <a:off x="2517242" y="2240280"/>
            <a:ext cx="8052897" cy="4416552"/>
          </a:xfrm>
        </p:spPr>
        <p:txBody>
          <a:bodyPr/>
          <a:lstStyle/>
          <a:p>
            <a:r>
              <a:rPr lang="en-US" altLang="ja-JP" dirty="0"/>
              <a:t>[1] Python, OpenCV </a:t>
            </a:r>
            <a:r>
              <a:rPr lang="ja-JP" altLang="en-US" dirty="0"/>
              <a:t>で動画を読み込み（ファイル・カメラ 映像 </a:t>
            </a:r>
            <a:r>
              <a:rPr lang="en-US" altLang="ja-JP" dirty="0">
                <a:hlinkClick r:id="rId2"/>
              </a:rPr>
              <a:t>https://note.nkmk.me/python-opencv-videocapturefile-camera/</a:t>
            </a:r>
            <a:endParaRPr lang="en-US" altLang="ja-JP" dirty="0"/>
          </a:p>
          <a:p>
            <a:r>
              <a:rPr lang="en-US" altLang="ja-JP" dirty="0"/>
              <a:t> [2] </a:t>
            </a:r>
            <a:r>
              <a:rPr lang="ja-JP" altLang="en-US" dirty="0"/>
              <a:t>手話</a:t>
            </a:r>
            <a:r>
              <a:rPr lang="en-US" altLang="ja-JP" dirty="0"/>
              <a:t>-</a:t>
            </a:r>
            <a:r>
              <a:rPr lang="ja-JP" altLang="en-US" dirty="0"/>
              <a:t>気持ち</a:t>
            </a:r>
            <a:r>
              <a:rPr lang="en-US" altLang="ja-JP" dirty="0"/>
              <a:t>|</a:t>
            </a:r>
            <a:r>
              <a:rPr lang="ja-JP" altLang="en-US" dirty="0"/>
              <a:t>障害について学ぼう</a:t>
            </a:r>
            <a:r>
              <a:rPr lang="en-US" altLang="ja-JP" dirty="0"/>
              <a:t>! </a:t>
            </a:r>
            <a:r>
              <a:rPr lang="en-US" altLang="ja-JP" dirty="0">
                <a:hlinkClick r:id="rId3"/>
              </a:rPr>
              <a:t>https://www.pref.ishikawa.jp/fukusi/manabu/sign/03/</a:t>
            </a:r>
            <a:endParaRPr lang="en-US" altLang="ja-JP" dirty="0"/>
          </a:p>
          <a:p>
            <a:r>
              <a:rPr lang="en-US" altLang="ja-JP" dirty="0"/>
              <a:t>[3] </a:t>
            </a:r>
            <a:r>
              <a:rPr lang="ja-JP" altLang="en-US" dirty="0"/>
              <a:t>動画をモノクロ映画っぽくする</a:t>
            </a:r>
            <a:r>
              <a:rPr lang="en-US" altLang="ja-JP" dirty="0"/>
              <a:t>-Python </a:t>
            </a:r>
            <a:r>
              <a:rPr lang="ja-JP" altLang="en-US" dirty="0"/>
              <a:t>でいろいろや ってみる</a:t>
            </a:r>
            <a:r>
              <a:rPr lang="en-US" altLang="ja-JP" dirty="0">
                <a:hlinkClick r:id="rId4"/>
              </a:rPr>
              <a:t>https://tatpytone.hatenablog.com/entry/2022/01/23/184808</a:t>
            </a:r>
            <a:endParaRPr lang="en-US" altLang="ja-JP" dirty="0"/>
          </a:p>
          <a:p>
            <a:r>
              <a:rPr lang="en-US" altLang="ja-JP" dirty="0"/>
              <a:t>[4] tf.keras.layers.Conv3D</a:t>
            </a:r>
          </a:p>
          <a:p>
            <a:r>
              <a:rPr kumimoji="1" lang="en-US" altLang="ja-JP" dirty="0">
                <a:hlinkClick r:id="rId5"/>
              </a:rPr>
              <a:t>https://www.tensorflow.org/api_docs/python/tf/keras/layers/Conv3D</a:t>
            </a:r>
            <a:endParaRPr kumimoji="1" lang="en-US" altLang="ja-JP" dirty="0"/>
          </a:p>
        </p:txBody>
      </p:sp>
    </p:spTree>
    <p:extLst>
      <p:ext uri="{BB962C8B-B14F-4D97-AF65-F5344CB8AC3E}">
        <p14:creationId xmlns:p14="http://schemas.microsoft.com/office/powerpoint/2010/main" val="1318012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1A68DDB-318B-444C-8C73-81BFDE46C9C5}"/>
              </a:ext>
            </a:extLst>
          </p:cNvPr>
          <p:cNvSpPr txBox="1"/>
          <p:nvPr/>
        </p:nvSpPr>
        <p:spPr>
          <a:xfrm>
            <a:off x="2706624" y="3162038"/>
            <a:ext cx="8595360" cy="830997"/>
          </a:xfrm>
          <a:prstGeom prst="rect">
            <a:avLst/>
          </a:prstGeom>
          <a:noFill/>
        </p:spPr>
        <p:txBody>
          <a:bodyPr wrap="square" rtlCol="0">
            <a:spAutoFit/>
          </a:bodyPr>
          <a:lstStyle/>
          <a:p>
            <a:r>
              <a:rPr kumimoji="1" lang="ja-JP" altLang="en-US" sz="4800" dirty="0"/>
              <a:t>ご清聴ありがとうございました</a:t>
            </a:r>
          </a:p>
        </p:txBody>
      </p:sp>
    </p:spTree>
    <p:extLst>
      <p:ext uri="{BB962C8B-B14F-4D97-AF65-F5344CB8AC3E}">
        <p14:creationId xmlns:p14="http://schemas.microsoft.com/office/powerpoint/2010/main" val="23878218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マディソン">
  <a:themeElements>
    <a:clrScheme name="Madison">
      <a:dk1>
        <a:sysClr val="windowText" lastClr="000000"/>
      </a:dk1>
      <a:lt1>
        <a:sysClr val="window" lastClr="FFFFFF"/>
      </a:lt1>
      <a:dk2>
        <a:srgbClr val="1F282E"/>
      </a:dk2>
      <a:lt2>
        <a:srgbClr val="C2F5FC"/>
      </a:lt2>
      <a:accent1>
        <a:srgbClr val="4091F3"/>
      </a:accent1>
      <a:accent2>
        <a:srgbClr val="8BBCF1"/>
      </a:accent2>
      <a:accent3>
        <a:srgbClr val="CB6A6A"/>
      </a:accent3>
      <a:accent4>
        <a:srgbClr val="C567AF"/>
      </a:accent4>
      <a:accent5>
        <a:srgbClr val="A684F9"/>
      </a:accent5>
      <a:accent6>
        <a:srgbClr val="A9ACEE"/>
      </a:accent6>
      <a:hlink>
        <a:srgbClr val="6D9CC5"/>
      </a:hlink>
      <a:folHlink>
        <a:srgbClr val="6D82A0"/>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178B2DAB-5DDE-4060-A857-D2E1CDA9250F}"/>
    </a:ext>
  </a:extLst>
</a:theme>
</file>

<file path=docProps/app.xml><?xml version="1.0" encoding="utf-8"?>
<Properties xmlns="http://schemas.openxmlformats.org/officeDocument/2006/extended-properties" xmlns:vt="http://schemas.openxmlformats.org/officeDocument/2006/docPropsVTypes">
  <Template>TM16401375[[fn=マディソン]]</Template>
  <TotalTime>50</TotalTime>
  <Words>449</Words>
  <Application>Microsoft Office PowerPoint</Application>
  <PresentationFormat>ワイド画面</PresentationFormat>
  <Paragraphs>38</Paragraphs>
  <Slides>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Arial</vt:lpstr>
      <vt:lpstr>MS Shell Dlg 2</vt:lpstr>
      <vt:lpstr>Wingdings</vt:lpstr>
      <vt:lpstr>Wingdings 3</vt:lpstr>
      <vt:lpstr>マディソン</vt:lpstr>
      <vt:lpstr>感情手話認識 システム</vt:lpstr>
      <vt:lpstr>・　目的  ・　元々の感情手話認識システム  ・　開発環境と言語  ・　当初の設計と変更点  ・　問題点  ・　改善  ・　今後の展望  ・　参考文献 </vt:lpstr>
      <vt:lpstr>研究の目的</vt:lpstr>
      <vt:lpstr>開発環境と言語</vt:lpstr>
      <vt:lpstr>当初の設計と変更点</vt:lpstr>
      <vt:lpstr>今後の展望</vt:lpstr>
      <vt:lpstr>参考文献</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感情手話認識 システム</dc:title>
  <dc:creator>ca</dc:creator>
  <cp:lastModifiedBy>ca</cp:lastModifiedBy>
  <cp:revision>7</cp:revision>
  <dcterms:created xsi:type="dcterms:W3CDTF">2025-02-08T09:04:59Z</dcterms:created>
  <dcterms:modified xsi:type="dcterms:W3CDTF">2025-02-11T05:52:33Z</dcterms:modified>
</cp:coreProperties>
</file>